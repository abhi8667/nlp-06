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5706053"/>
            <a:ext cx="202692" cy="44781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2692" y="5706053"/>
            <a:ext cx="202692" cy="23089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405384" y="5348558"/>
            <a:ext cx="202692" cy="380584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8076" y="5348558"/>
            <a:ext cx="202692" cy="585195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810768" y="5691174"/>
            <a:ext cx="202692" cy="242579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3460" y="5691174"/>
            <a:ext cx="202692" cy="49009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6152" y="5740183"/>
            <a:ext cx="202692" cy="2788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418844" y="5721526"/>
            <a:ext cx="202692" cy="21445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21536" y="5721526"/>
            <a:ext cx="202692" cy="40786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824228" y="5747751"/>
            <a:ext cx="202692" cy="14561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026920" y="5732782"/>
            <a:ext cx="202692" cy="14969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2229612" y="5722144"/>
            <a:ext cx="202692" cy="10638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32304" y="5722144"/>
            <a:ext cx="202692" cy="24918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34996" y="5747063"/>
            <a:ext cx="202692" cy="10388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2837688" y="5360388"/>
            <a:ext cx="202692" cy="397062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40380" y="5360388"/>
            <a:ext cx="202692" cy="598474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243072" y="5747222"/>
            <a:ext cx="202692" cy="211641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45764" y="5747222"/>
            <a:ext cx="202692" cy="39275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3648456" y="5771997"/>
            <a:ext cx="202692" cy="14500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51148" y="5771997"/>
            <a:ext cx="202692" cy="77816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4053840" y="5837328"/>
            <a:ext cx="202692" cy="12485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56532" y="5837328"/>
            <a:ext cx="202692" cy="85124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59224" y="5922452"/>
            <a:ext cx="202692" cy="11861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1916" y="5934313"/>
            <a:ext cx="202692" cy="16182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64608" y="5950496"/>
            <a:ext cx="202692" cy="9015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67300" y="5959511"/>
            <a:ext cx="202692" cy="1509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5269992" y="5566671"/>
            <a:ext cx="202692" cy="394348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72684" y="5566671"/>
            <a:ext cx="202692" cy="572676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5675376" y="5927199"/>
            <a:ext cx="202692" cy="212148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5878068" y="5862542"/>
            <a:ext cx="202692" cy="64656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0760" y="5862542"/>
            <a:ext cx="202692" cy="19779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6283452" y="5845548"/>
            <a:ext cx="202692" cy="36773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6486144" y="5790175"/>
            <a:ext cx="202692" cy="55373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6688836" y="5732989"/>
            <a:ext cx="202692" cy="57186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91528" y="5732989"/>
            <a:ext cx="202692" cy="36185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7094220" y="5711159"/>
            <a:ext cx="202692" cy="58015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96912" y="5711159"/>
            <a:ext cx="202692" cy="7311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7499604" y="5706474"/>
            <a:ext cx="202692" cy="11996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7702296" y="5362042"/>
            <a:ext cx="202692" cy="344432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04988" y="5362042"/>
            <a:ext cx="202692" cy="575404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8107680" y="5730528"/>
            <a:ext cx="202692" cy="206918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10372" y="5730528"/>
            <a:ext cx="202692" cy="15419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8513064" y="5739769"/>
            <a:ext cx="202692" cy="6177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715756" y="5739769"/>
            <a:ext cx="202692" cy="19885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8918448" y="5710871"/>
            <a:ext cx="202692" cy="48783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9121140" y="5709460"/>
            <a:ext cx="202692" cy="1411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9323832" y="5697886"/>
            <a:ext cx="202692" cy="11573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526524" y="5697886"/>
            <a:ext cx="202692" cy="7924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729216" y="5705810"/>
            <a:ext cx="202692" cy="13278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9931908" y="5710115"/>
            <a:ext cx="202692" cy="8974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10134600" y="5376365"/>
            <a:ext cx="202692" cy="333750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337292" y="5376365"/>
            <a:ext cx="202692" cy="626502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10539984" y="5803692"/>
            <a:ext cx="202692" cy="199175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742676" y="5803692"/>
            <a:ext cx="202692" cy="55804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945368" y="5859496"/>
            <a:ext cx="202692" cy="26116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148060" y="5885612"/>
            <a:ext cx="202692" cy="25130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350752" y="5910742"/>
            <a:ext cx="202692" cy="1818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53444" y="5912560"/>
            <a:ext cx="202692" cy="51520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756136" y="5964080"/>
            <a:ext cx="202692" cy="24138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11958828" y="5950042"/>
            <a:ext cx="202692" cy="38176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5800" y="18745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Papers &amp; Dataset</a:t>
            </a:r>
            <a:endParaRPr lang="en-US" sz="4600" dirty="0"/>
          </a:p>
        </p:txBody>
      </p:sp>
      <p:sp>
        <p:nvSpPr>
          <p:cNvPr id="63" name="Text 61"/>
          <p:cNvSpPr/>
          <p:nvPr/>
        </p:nvSpPr>
        <p:spPr>
          <a:xfrm>
            <a:off x="685800" y="28803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five papers establish, what none of them do, and the real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NLP-06 is built and measured on.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685800" y="5120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4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NLP-06   ·   Review presentation   ·   22 August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QUESTION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76656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every base paper is measured against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10789920" cy="2286000"/>
          </a:xfrm>
          <a:prstGeom prst="roundRect">
            <a:avLst>
              <a:gd name="adj" fmla="val 3200"/>
            </a:avLst>
          </a:prstGeom>
          <a:solidFill>
            <a:srgbClr val="1D3546"/>
          </a:solidFill>
          <a:ln w="12700">
            <a:solidFill>
              <a:srgbClr val="1D35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331720"/>
            <a:ext cx="9875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 federated, differentially private clinical model trained on ward vitals, </a:t>
            </a:r>
            <a:pPr indent="0" marL="0">
              <a:lnSpc>
                <a:spcPts val="3200"/>
              </a:lnSpc>
              <a:buNone/>
            </a:pPr>
            <a:r>
              <a:rPr lang="en-US" sz="22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what privacy budget (ε) does utility fall below clinical usefulness</a:t>
            </a:r>
            <a:pPr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and do sequence models (LSTM/GRU) tolerate that noise better than a CNN?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4617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paper reviewed next is scored against one thing: does it help answer this, and where does it fall short?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FIVE PAPERS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76656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families, and a gap between them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5074920" cy="3566160"/>
          </a:xfrm>
          <a:prstGeom prst="roundRect">
            <a:avLst>
              <a:gd name="adj" fmla="val 2051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148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federation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51560" y="25420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b2 · b3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29718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and differential privacy, done rigorously — on data that is static, tabular, or non-clinical.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48463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sequence modelling. No language model. No monitoring.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46520" y="1920240"/>
            <a:ext cx="5029200" cy="3566160"/>
          </a:xfrm>
          <a:prstGeom prst="roundRect">
            <a:avLst>
              <a:gd name="adj" fmla="val 2051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0" y="2148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 in medicine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12280" y="25420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· b5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12280" y="29718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Retrieval-grounded language models that work — one deployed system, one review of sixty-seven studies.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12280" y="48463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privacy mechanism. No federation. No continuous monitoring.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08192" y="2194560"/>
            <a:ext cx="18288" cy="3108960"/>
          </a:xfrm>
          <a:prstGeom prst="rect">
            <a:avLst/>
          </a:prstGeom>
          <a:solidFill>
            <a:srgbClr val="3A5062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b1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76656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Federated learning with differential privacy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breast cancer diagnosis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789920" cy="502920"/>
          </a:xfrm>
          <a:prstGeom prst="roundRect">
            <a:avLst>
              <a:gd name="adj" fmla="val 14545"/>
            </a:avLst>
          </a:prstGeom>
          <a:solidFill>
            <a:srgbClr val="1D3546"/>
          </a:solidFill>
          <a:ln w="12700">
            <a:solidFill>
              <a:srgbClr val="1D35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745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Shukla et al. · Scientific Reports · 2025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2542032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72491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14600" y="272491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569 records, 32 features — static tabular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78408" y="3200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14600" y="32004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baseline + FL Feed-Forward NN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78408" y="36758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14600" y="36758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Federated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542032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272491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method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46720" y="272491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DP-SGD, basic composition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10528" y="3200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046720" y="32004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96.1% accuracy at ε = 1.9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10528" y="36758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0" y="36758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simulated, IID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4709160"/>
            <a:ext cx="10789920" cy="1417320"/>
          </a:xfrm>
          <a:prstGeom prst="roundRect">
            <a:avLst>
              <a:gd name="adj" fmla="val 5161"/>
            </a:avLst>
          </a:prstGeom>
          <a:solidFill>
            <a:srgbClr val="1D3546"/>
          </a:solidFill>
          <a:ln w="12700">
            <a:solidFill>
              <a:srgbClr val="1D35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846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NLP-06 takes from it — and what's missing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51560" y="513892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us the ε-sweep template — sweep privacy budget, measure accuracy degradation. Missing: no time-series structure at all, so it can't tell us whether the same curve holds for sequential clinical vitals. → basis for C1.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b2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76656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Balancing privacy and performance in healthcare: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federated learning framework for sensitive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789920" cy="502920"/>
          </a:xfrm>
          <a:prstGeom prst="roundRect">
            <a:avLst>
              <a:gd name="adj" fmla="val 14545"/>
            </a:avLst>
          </a:prstGeom>
          <a:solidFill>
            <a:srgbClr val="1D3546"/>
          </a:solidFill>
          <a:ln w="12700">
            <a:solidFill>
              <a:srgbClr val="1D35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745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Tanveer, Iradat, Iqbal, Alsagri, Alhakbani, Ahmad, Khan · Digital Health (SAGE) · Sept 2025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2542032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72491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14600" y="272491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Prediction dataset — 5,110 records, static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78408" y="3200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14600" y="32004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fully-connected DNN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78408" y="36758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14600" y="36758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 (flwr) — same as NLP-06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542032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272491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method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46720" y="272491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DP-SGD, Rényi accounting — same family as us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10528" y="3200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046720" y="32004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≈ 0.69 after 10 rounds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10528" y="36758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0" y="36758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pipeline: Edge/Privacy/Aggregation/App/Decision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4709160"/>
            <a:ext cx="10789920" cy="1417320"/>
          </a:xfrm>
          <a:prstGeom prst="roundRect">
            <a:avLst>
              <a:gd name="adj" fmla="val 5161"/>
            </a:avLst>
          </a:prstGeom>
          <a:solidFill>
            <a:srgbClr val="1D3546"/>
          </a:solidFill>
          <a:ln w="12700">
            <a:solidFill>
              <a:srgbClr val="1D35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846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NLP-06 takes from it — and what's missing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51560" y="513892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us the Flower + Rényi accounting pattern and the layered architecture template — both directly adopted. Missing: no temporal data, no language model layer.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b3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76656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Privacy-Preserving Federated Learning-Based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Intrusion Detection System for IoHT Devices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789920" cy="502920"/>
          </a:xfrm>
          <a:prstGeom prst="roundRect">
            <a:avLst>
              <a:gd name="adj" fmla="val 14545"/>
            </a:avLst>
          </a:prstGeom>
          <a:solidFill>
            <a:srgbClr val="1D3546"/>
          </a:solidFill>
          <a:ln w="12700">
            <a:solidFill>
              <a:srgbClr val="1D35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745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Mosaiyebzadeh et al. · Electronics (MDPI) 14(1):67 · rec. Nov 2024, publ. Jan 2025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2542032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72491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14600" y="272491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wustl-ehms-2020 + ECU-IoHT — network/biometric traffic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78408" y="3200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14600" y="32004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 vs CNN — compared directly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78408" y="36758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14600" y="36758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Opacus (PyTorch) — same DP library as us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542032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272491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tested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46720" y="272491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levels: 0.5 and 1.5 — not a sweep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10528" y="3200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results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046720" y="32004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≈0.43–6.69 depending on noise/dataset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10528" y="36758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name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0" y="36758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itself “SECIoHT-FL” — not a separate paper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4709160"/>
            <a:ext cx="10789920" cy="1417320"/>
          </a:xfrm>
          <a:prstGeom prst="roundRect">
            <a:avLst>
              <a:gd name="adj" fmla="val 5161"/>
            </a:avLst>
          </a:prstGeom>
          <a:solidFill>
            <a:srgbClr val="1D3546"/>
          </a:solidFill>
          <a:ln w="12700">
            <a:solidFill>
              <a:srgbClr val="1D35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846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NLP-06 takes from it — and what's missing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51560" y="513892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us the Opacus implementation pattern and the DNN-vs-CNN comparison design. Missing: only 2 noise points, non-clinical traffic, no LSTM/GRU. → direct template for C2, extended to a full sweep on real vitals.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b4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76656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 generation elevates local LLM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in radiology contrast media consultation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789920" cy="502920"/>
          </a:xfrm>
          <a:prstGeom prst="roundRect">
            <a:avLst>
              <a:gd name="adj" fmla="val 14545"/>
            </a:avLst>
          </a:prstGeom>
          <a:solidFill>
            <a:srgbClr val="1D3546"/>
          </a:solidFill>
          <a:ln w="12700">
            <a:solidFill>
              <a:srgbClr val="1D35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745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Wada et al. · npj Digital Medicine · 2025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2542032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72491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14600" y="272491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3.2-11B, local deployment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78408" y="3200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14600" y="32004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ACR/ESUR guidelines — 66 chunks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78408" y="36758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14600" y="36758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semantic + keyword, top-4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542032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272491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46720" y="272491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8% → 0% with RAG (p = 0.012)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10528" y="3200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046720" y="32004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scenarios, radiologist + 3 LLM judges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10528" y="36758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0" y="36758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0.2 — adopted by us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4709160"/>
            <a:ext cx="10789920" cy="1417320"/>
          </a:xfrm>
          <a:prstGeom prst="roundRect">
            <a:avLst>
              <a:gd name="adj" fmla="val 5161"/>
            </a:avLst>
          </a:prstGeom>
          <a:solidFill>
            <a:srgbClr val="1D3546"/>
          </a:solidFill>
          <a:ln w="12700">
            <a:solidFill>
              <a:srgbClr val="1D35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846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NLP-06 takes from it — and what's missing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51560" y="513892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justifies our RAG design and evaluation methodology. Missing: no privacy, no federation, no continuous monitoring — a single-shot consultation tool, not a ward system.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b5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76656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Improving Large Language Model Applications in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and Nursing Domains With RAG: Scoping Review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789920" cy="502920"/>
          </a:xfrm>
          <a:prstGeom prst="roundRect">
            <a:avLst>
              <a:gd name="adj" fmla="val 14545"/>
            </a:avLst>
          </a:prstGeom>
          <a:solidFill>
            <a:srgbClr val="1D3546"/>
          </a:solidFill>
          <a:ln w="12700">
            <a:solidFill>
              <a:srgbClr val="1D35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745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Miao et al. · JMIR · 2025 · 67 studies, Nov 2022–May 2025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2542032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72491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14600" y="272491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target physician workflows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78408" y="3200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14600" y="32004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6% target nursing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78408" y="36758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14600" y="36758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9/67 studies address it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542032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272491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46720" y="272491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“None of the 67 studies integrate real-time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10528" y="3200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046720" y="32004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with RAG.”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10528" y="36758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0" y="36758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— no system built, no experiments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4709160"/>
            <a:ext cx="10789920" cy="1417320"/>
          </a:xfrm>
          <a:prstGeom prst="roundRect">
            <a:avLst>
              <a:gd name="adj" fmla="val 5161"/>
            </a:avLst>
          </a:prstGeom>
          <a:solidFill>
            <a:srgbClr val="1D3546"/>
          </a:solidFill>
          <a:ln w="12700">
            <a:solidFill>
              <a:srgbClr val="1D35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846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NLP-06 takes from it — and what's missing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51560" y="513892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confirmation that NLP-06's gap is real, not asserted. We target the underserved nursing workflow and the exact telemetry gap this review names.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TABLE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76656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has a column that's full teal — except ours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931920" y="1600200"/>
            <a:ext cx="1257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189220" y="1600200"/>
            <a:ext cx="1257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46520" y="1600200"/>
            <a:ext cx="1257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03820" y="1600200"/>
            <a:ext cx="1257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961120" y="1600200"/>
            <a:ext cx="1257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218420" y="1600200"/>
            <a:ext cx="1257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NLP-06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1938528"/>
            <a:ext cx="10789920" cy="384048"/>
          </a:xfrm>
          <a:prstGeom prst="roundRect">
            <a:avLst>
              <a:gd name="adj" fmla="val 19048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65960"/>
            <a:ext cx="2971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78274" y="2061972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35574" y="2061972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92874" y="2061972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50174" y="2061972"/>
            <a:ext cx="128016" cy="128016"/>
          </a:xfrm>
          <a:prstGeom prst="ellipse">
            <a:avLst/>
          </a:prstGeom>
          <a:solidFill>
            <a:srgbClr val="3A5062"/>
          </a:solidFill>
          <a:ln w="12700">
            <a:solidFill>
              <a:srgbClr val="3A50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07474" y="2061972"/>
            <a:ext cx="128016" cy="128016"/>
          </a:xfrm>
          <a:prstGeom prst="ellipse">
            <a:avLst/>
          </a:prstGeom>
          <a:solidFill>
            <a:srgbClr val="3A5062"/>
          </a:solidFill>
          <a:ln w="12700">
            <a:solidFill>
              <a:srgbClr val="3A50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64774" y="2061972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368296"/>
            <a:ext cx="2971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 (DP-SGD)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78274" y="2464308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35574" y="2464308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92874" y="2464308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50174" y="2464308"/>
            <a:ext cx="128016" cy="128016"/>
          </a:xfrm>
          <a:prstGeom prst="ellipse">
            <a:avLst/>
          </a:prstGeom>
          <a:solidFill>
            <a:srgbClr val="3A5062"/>
          </a:solidFill>
          <a:ln w="12700">
            <a:solidFill>
              <a:srgbClr val="3A506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07474" y="2464308"/>
            <a:ext cx="128016" cy="128016"/>
          </a:xfrm>
          <a:prstGeom prst="ellipse">
            <a:avLst/>
          </a:prstGeom>
          <a:solidFill>
            <a:srgbClr val="3A5062"/>
          </a:solidFill>
          <a:ln w="12700">
            <a:solidFill>
              <a:srgbClr val="3A506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64774" y="2464308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2743200"/>
            <a:ext cx="10789920" cy="384048"/>
          </a:xfrm>
          <a:prstGeom prst="roundRect">
            <a:avLst>
              <a:gd name="adj" fmla="val 19048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2770632"/>
            <a:ext cx="2971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/ sequence data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78274" y="2866644"/>
            <a:ext cx="128016" cy="128016"/>
          </a:xfrm>
          <a:prstGeom prst="ellipse">
            <a:avLst/>
          </a:prstGeom>
          <a:solidFill>
            <a:srgbClr val="3A5062"/>
          </a:solidFill>
          <a:ln w="12700">
            <a:solidFill>
              <a:srgbClr val="3A506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35574" y="2866644"/>
            <a:ext cx="128016" cy="128016"/>
          </a:xfrm>
          <a:prstGeom prst="ellipse">
            <a:avLst/>
          </a:prstGeom>
          <a:solidFill>
            <a:srgbClr val="3A5062"/>
          </a:solidFill>
          <a:ln w="12700">
            <a:solidFill>
              <a:srgbClr val="3A506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92874" y="2866644"/>
            <a:ext cx="164592" cy="16459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50174" y="2866644"/>
            <a:ext cx="128016" cy="128016"/>
          </a:xfrm>
          <a:prstGeom prst="ellipse">
            <a:avLst/>
          </a:prstGeom>
          <a:solidFill>
            <a:srgbClr val="3A5062"/>
          </a:solidFill>
          <a:ln w="12700">
            <a:solidFill>
              <a:srgbClr val="3A506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7474" y="2866644"/>
            <a:ext cx="128016" cy="128016"/>
          </a:xfrm>
          <a:prstGeom prst="ellipse">
            <a:avLst/>
          </a:prstGeom>
          <a:solidFill>
            <a:srgbClr val="3A5062"/>
          </a:solidFill>
          <a:ln w="12700">
            <a:solidFill>
              <a:srgbClr val="3A506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764774" y="2866644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3172968"/>
            <a:ext cx="2971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ε-sweep (5+ points)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478274" y="3268980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35574" y="3268980"/>
            <a:ext cx="128016" cy="128016"/>
          </a:xfrm>
          <a:prstGeom prst="ellipse">
            <a:avLst/>
          </a:prstGeom>
          <a:solidFill>
            <a:srgbClr val="3A5062"/>
          </a:solidFill>
          <a:ln w="12700">
            <a:solidFill>
              <a:srgbClr val="3A506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92874" y="3268980"/>
            <a:ext cx="128016" cy="128016"/>
          </a:xfrm>
          <a:prstGeom prst="ellipse">
            <a:avLst/>
          </a:prstGeom>
          <a:solidFill>
            <a:srgbClr val="3A5062"/>
          </a:solidFill>
          <a:ln w="12700">
            <a:solidFill>
              <a:srgbClr val="3A506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764774" y="3268980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5800" y="3547872"/>
            <a:ext cx="10789920" cy="384048"/>
          </a:xfrm>
          <a:prstGeom prst="roundRect">
            <a:avLst>
              <a:gd name="adj" fmla="val 19048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" y="3575304"/>
            <a:ext cx="2971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+ RAG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78274" y="3671316"/>
            <a:ext cx="128016" cy="128016"/>
          </a:xfrm>
          <a:prstGeom prst="ellipse">
            <a:avLst/>
          </a:prstGeom>
          <a:solidFill>
            <a:srgbClr val="3A5062"/>
          </a:solidFill>
          <a:ln w="12700">
            <a:solidFill>
              <a:srgbClr val="3A506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35574" y="3671316"/>
            <a:ext cx="128016" cy="128016"/>
          </a:xfrm>
          <a:prstGeom prst="ellipse">
            <a:avLst/>
          </a:prstGeom>
          <a:solidFill>
            <a:srgbClr val="3A5062"/>
          </a:solidFill>
          <a:ln w="12700">
            <a:solidFill>
              <a:srgbClr val="3A506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92874" y="3671316"/>
            <a:ext cx="128016" cy="128016"/>
          </a:xfrm>
          <a:prstGeom prst="ellipse">
            <a:avLst/>
          </a:prstGeom>
          <a:solidFill>
            <a:srgbClr val="3A5062"/>
          </a:solidFill>
          <a:ln w="12700">
            <a:solidFill>
              <a:srgbClr val="3A506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50174" y="3671316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507474" y="3671316"/>
            <a:ext cx="164592" cy="16459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764774" y="3671316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" y="3977640"/>
            <a:ext cx="2971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Patient-scoped retrieval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478274" y="4073652"/>
            <a:ext cx="128016" cy="128016"/>
          </a:xfrm>
          <a:prstGeom prst="ellipse">
            <a:avLst/>
          </a:prstGeom>
          <a:solidFill>
            <a:srgbClr val="3A5062"/>
          </a:solidFill>
          <a:ln w="12700">
            <a:solidFill>
              <a:srgbClr val="3A506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35574" y="4073652"/>
            <a:ext cx="128016" cy="128016"/>
          </a:xfrm>
          <a:prstGeom prst="ellipse">
            <a:avLst/>
          </a:prstGeom>
          <a:solidFill>
            <a:srgbClr val="3A5062"/>
          </a:solidFill>
          <a:ln w="12700">
            <a:solidFill>
              <a:srgbClr val="3A506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92874" y="4073652"/>
            <a:ext cx="128016" cy="128016"/>
          </a:xfrm>
          <a:prstGeom prst="ellipse">
            <a:avLst/>
          </a:prstGeom>
          <a:solidFill>
            <a:srgbClr val="3A5062"/>
          </a:solidFill>
          <a:ln w="12700">
            <a:solidFill>
              <a:srgbClr val="3A506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50174" y="4073652"/>
            <a:ext cx="164592" cy="16459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507474" y="4073652"/>
            <a:ext cx="128016" cy="128016"/>
          </a:xfrm>
          <a:prstGeom prst="ellipse">
            <a:avLst/>
          </a:prstGeom>
          <a:solidFill>
            <a:srgbClr val="3A5062"/>
          </a:solidFill>
          <a:ln w="12700">
            <a:solidFill>
              <a:srgbClr val="3A506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764774" y="4073652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5800" y="4352544"/>
            <a:ext cx="10789920" cy="384048"/>
          </a:xfrm>
          <a:prstGeom prst="roundRect">
            <a:avLst>
              <a:gd name="adj" fmla="val 19048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8680" y="4379976"/>
            <a:ext cx="2971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vital monitoring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478274" y="4475988"/>
            <a:ext cx="128016" cy="128016"/>
          </a:xfrm>
          <a:prstGeom prst="ellipse">
            <a:avLst/>
          </a:prstGeom>
          <a:solidFill>
            <a:srgbClr val="3A5062"/>
          </a:solidFill>
          <a:ln w="12700">
            <a:solidFill>
              <a:srgbClr val="3A506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735574" y="4475988"/>
            <a:ext cx="128016" cy="128016"/>
          </a:xfrm>
          <a:prstGeom prst="ellipse">
            <a:avLst/>
          </a:prstGeom>
          <a:solidFill>
            <a:srgbClr val="3A5062"/>
          </a:solidFill>
          <a:ln w="12700">
            <a:solidFill>
              <a:srgbClr val="3A506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92874" y="4475988"/>
            <a:ext cx="164592" cy="16459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250174" y="4475988"/>
            <a:ext cx="128016" cy="128016"/>
          </a:xfrm>
          <a:prstGeom prst="ellipse">
            <a:avLst/>
          </a:prstGeom>
          <a:solidFill>
            <a:srgbClr val="3A5062"/>
          </a:solidFill>
          <a:ln w="12700">
            <a:solidFill>
              <a:srgbClr val="3A506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507474" y="4475988"/>
            <a:ext cx="128016" cy="128016"/>
          </a:xfrm>
          <a:prstGeom prst="ellipse">
            <a:avLst/>
          </a:prstGeom>
          <a:solidFill>
            <a:srgbClr val="3A5062"/>
          </a:solidFill>
          <a:ln w="12700">
            <a:solidFill>
              <a:srgbClr val="3A506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764774" y="4475988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68680" y="4782312"/>
            <a:ext cx="2971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→ RAG clinician summary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478274" y="4878324"/>
            <a:ext cx="128016" cy="128016"/>
          </a:xfrm>
          <a:prstGeom prst="ellipse">
            <a:avLst/>
          </a:prstGeom>
          <a:solidFill>
            <a:srgbClr val="3A5062"/>
          </a:solidFill>
          <a:ln w="12700">
            <a:solidFill>
              <a:srgbClr val="3A506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735574" y="4878324"/>
            <a:ext cx="128016" cy="128016"/>
          </a:xfrm>
          <a:prstGeom prst="ellipse">
            <a:avLst/>
          </a:prstGeom>
          <a:solidFill>
            <a:srgbClr val="3A5062"/>
          </a:solidFill>
          <a:ln w="12700">
            <a:solidFill>
              <a:srgbClr val="3A506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92874" y="4878324"/>
            <a:ext cx="128016" cy="128016"/>
          </a:xfrm>
          <a:prstGeom prst="ellipse">
            <a:avLst/>
          </a:prstGeom>
          <a:solidFill>
            <a:srgbClr val="3A5062"/>
          </a:solidFill>
          <a:ln w="12700">
            <a:solidFill>
              <a:srgbClr val="3A506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250174" y="4878324"/>
            <a:ext cx="128016" cy="128016"/>
          </a:xfrm>
          <a:prstGeom prst="ellipse">
            <a:avLst/>
          </a:prstGeom>
          <a:solidFill>
            <a:srgbClr val="3A5062"/>
          </a:solidFill>
          <a:ln w="12700">
            <a:solidFill>
              <a:srgbClr val="3A506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507474" y="4878324"/>
            <a:ext cx="128016" cy="128016"/>
          </a:xfrm>
          <a:prstGeom prst="ellipse">
            <a:avLst/>
          </a:prstGeom>
          <a:solidFill>
            <a:srgbClr val="3A5062"/>
          </a:solidFill>
          <a:ln w="12700">
            <a:solidFill>
              <a:srgbClr val="3A506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764774" y="4878324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85800" y="5157216"/>
            <a:ext cx="10789920" cy="384048"/>
          </a:xfrm>
          <a:prstGeom prst="roundRect">
            <a:avLst>
              <a:gd name="adj" fmla="val 19048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68680" y="5184648"/>
            <a:ext cx="2971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Rényi DP accounting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478274" y="5280660"/>
            <a:ext cx="128016" cy="128016"/>
          </a:xfrm>
          <a:prstGeom prst="ellipse">
            <a:avLst/>
          </a:prstGeom>
          <a:solidFill>
            <a:srgbClr val="3A5062"/>
          </a:solidFill>
          <a:ln w="12700">
            <a:solidFill>
              <a:srgbClr val="3A506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735574" y="5280660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992874" y="5280660"/>
            <a:ext cx="128016" cy="128016"/>
          </a:xfrm>
          <a:prstGeom prst="ellipse">
            <a:avLst/>
          </a:prstGeom>
          <a:solidFill>
            <a:srgbClr val="3A5062"/>
          </a:solidFill>
          <a:ln w="12700">
            <a:solidFill>
              <a:srgbClr val="3A506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764774" y="5280660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85800" y="5724144"/>
            <a:ext cx="128016" cy="12801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05256" y="56418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2240280" y="5724144"/>
            <a:ext cx="128016" cy="12801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459736" y="56418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3794760" y="5724144"/>
            <a:ext cx="128016" cy="128016"/>
          </a:xfrm>
          <a:prstGeom prst="ellipse">
            <a:avLst/>
          </a:prstGeom>
          <a:solidFill>
            <a:srgbClr val="3A5062"/>
          </a:solidFill>
          <a:ln w="12700">
            <a:solidFill>
              <a:srgbClr val="3A506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014216" y="56418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5623560" y="56418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= not applicable (paper does not attempt FL/DP)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NLP-06 ADDS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76656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contributions, mapped to the gap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205740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74520" y="2029968"/>
            <a:ext cx="4206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ε-utility floor for clinical time-series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263640" y="2029968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only tested static tabular data — we measure the same curve on sequential vitals.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999232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3136392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874520" y="3108960"/>
            <a:ext cx="4206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LSTM/GRU vs CNN under a full DP sweep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63640" y="3108960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tested 2 noise points on network traffic — we run a full sweep on real vitals.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4078224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1D3546"/>
          </a:solidFill>
          <a:ln w="12700">
            <a:solidFill>
              <a:srgbClr val="1D35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4215384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874520" y="4187952"/>
            <a:ext cx="4206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→ retrieval bridge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63640" y="4187952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paper in b1–b5, or the 67 b5 reviewed, connects a DP-protected model's output to patient-scoped retrieval.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5157216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5294376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874520" y="5266944"/>
            <a:ext cx="4206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Rényi accounting, provable ε &lt; 2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63640" y="5266944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Rigor, not novelty — stronger bookkeeping than b1's basic composition.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DATASET, PART 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76656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PhysioNet / CinC 2019 — not a simulation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8483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40,336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ICU patients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9202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208483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0" y="2651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hospitals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09560" y="19202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208483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183880" y="2651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credentialing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3611880"/>
            <a:ext cx="10789920" cy="1051560"/>
          </a:xfrm>
          <a:prstGeom prst="roundRect">
            <a:avLst>
              <a:gd name="adj" fmla="val 6957"/>
            </a:avLst>
          </a:prstGeom>
          <a:solidFill>
            <a:srgbClr val="1D3546"/>
          </a:solidFill>
          <a:ln w="12700">
            <a:solidFill>
              <a:srgbClr val="1D35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7673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tried Synthea first. It failed two independent tests.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1148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154-day median gap between readings (no telemetry cadence) · near-zero oxygen and temperature data. Both measured and recorded in p0/results/s1_cadence.json before switching.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4846320"/>
            <a:ext cx="10789920" cy="1280160"/>
          </a:xfrm>
          <a:prstGeom prst="roundRect">
            <a:avLst>
              <a:gd name="adj" fmla="val 5714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50017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PhysioNet passed the same tests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53492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87–92%  ·  SpO₂ 85–88%  ·  Resp 78–90%  ·  SBP 85–86%  ·  Temp 33–36%   — hourly rows, real cadence.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DATASET, PART 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76656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we measured before building on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789920" cy="1298448"/>
          </a:xfrm>
          <a:prstGeom prst="roundRect">
            <a:avLst>
              <a:gd name="adj" fmla="val 5634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130552"/>
            <a:ext cx="274320" cy="27432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30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20116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NEWS2, not the sepsis flag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54480" y="2386584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hourly from vitals — keeps this a general deterioration monitor. 12.6% of hours flagged at threshold ≥ 5, close to the 10–15% originally planned. Cross-checked: caught 60–75% of patients later confirmed septic.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3355848"/>
            <a:ext cx="10789920" cy="1298448"/>
          </a:xfrm>
          <a:prstGeom prst="roundRect">
            <a:avLst>
              <a:gd name="adj" fmla="val 5634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611880"/>
            <a:ext cx="274320" cy="27432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480" y="349300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Imputation: forward-filled, and reported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554480" y="3867912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7% · Resp 9% · SpO₂ 12% · SBP 12% · Temp 64% · Glucose 86% imputed. Goes directly into the paper's limitations — not hidden.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4837176"/>
            <a:ext cx="10789920" cy="1298448"/>
          </a:xfrm>
          <a:prstGeom prst="roundRect">
            <a:avLst>
              <a:gd name="adj" fmla="val 5634"/>
            </a:avLst>
          </a:prstGeom>
          <a:solidFill>
            <a:srgbClr val="162A38"/>
          </a:solidFill>
          <a:ln w="12700">
            <a:solidFill>
              <a:srgbClr val="162A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5093208"/>
            <a:ext cx="274320" cy="27432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093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497433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Horizon: 6 hours, not 0 — measured, not assumed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54480" y="5349240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C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0h the task is near-trivial (AUROC 0.90) because the label derives from the same vitals. At 6h: 0.78 — a real forecast, and one that leaves room for the DP experiment to show something.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5663078"/>
            <a:ext cx="202692" cy="79022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202692" y="5651133"/>
            <a:ext cx="202692" cy="11945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405384" y="5286437"/>
            <a:ext cx="202692" cy="364696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8076" y="5286437"/>
            <a:ext cx="202692" cy="572162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810768" y="5666789"/>
            <a:ext cx="202692" cy="191810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3460" y="5666789"/>
            <a:ext cx="202692" cy="7864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6152" y="5674653"/>
            <a:ext cx="202692" cy="2859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8844" y="5677512"/>
            <a:ext cx="202692" cy="26109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21536" y="5703621"/>
            <a:ext cx="202692" cy="29293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824228" y="5704620"/>
            <a:ext cx="202692" cy="28294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26920" y="5704620"/>
            <a:ext cx="202692" cy="39592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2229612" y="5687953"/>
            <a:ext cx="202692" cy="56258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2432304" y="5682628"/>
            <a:ext cx="202692" cy="5326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34996" y="5682628"/>
            <a:ext cx="202692" cy="5219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2837688" y="5358664"/>
            <a:ext cx="202692" cy="329183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40380" y="5358664"/>
            <a:ext cx="202692" cy="526287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243072" y="5686030"/>
            <a:ext cx="202692" cy="198921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45764" y="5686030"/>
            <a:ext cx="202692" cy="49800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3648456" y="5729539"/>
            <a:ext cx="202692" cy="6291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51148" y="5729539"/>
            <a:ext cx="202692" cy="18231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53840" y="5747770"/>
            <a:ext cx="202692" cy="29766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56532" y="5777536"/>
            <a:ext cx="202692" cy="73958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59224" y="5851494"/>
            <a:ext cx="202692" cy="28568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1916" y="5880062"/>
            <a:ext cx="202692" cy="20492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4864608" y="5887397"/>
            <a:ext cx="202692" cy="13156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67300" y="5887397"/>
            <a:ext cx="202692" cy="26024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5269992" y="5572192"/>
            <a:ext cx="202692" cy="341229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72684" y="5572192"/>
            <a:ext cx="202692" cy="509033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5675376" y="5845245"/>
            <a:ext cx="202692" cy="235980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78068" y="5845245"/>
            <a:ext cx="202692" cy="2024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6080760" y="5815103"/>
            <a:ext cx="202692" cy="32166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6283452" y="5753462"/>
            <a:ext cx="202692" cy="61641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6486144" y="5727751"/>
            <a:ext cx="202692" cy="25711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88836" y="5727751"/>
            <a:ext cx="202692" cy="11577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6891528" y="5688649"/>
            <a:ext cx="202692" cy="50679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94220" y="5688649"/>
            <a:ext cx="202692" cy="1034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7296912" y="5682219"/>
            <a:ext cx="202692" cy="7464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7499604" y="5658805"/>
            <a:ext cx="202692" cy="23414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7702296" y="5350485"/>
            <a:ext cx="202692" cy="308320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04988" y="5350485"/>
            <a:ext cx="202692" cy="584783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8107680" y="5733530"/>
            <a:ext cx="202692" cy="201738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8310372" y="5731349"/>
            <a:ext cx="202692" cy="2181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8513064" y="5681777"/>
            <a:ext cx="202692" cy="49571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715756" y="5681777"/>
            <a:ext cx="202692" cy="21580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8918448" y="5669292"/>
            <a:ext cx="202692" cy="34065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21140" y="5669292"/>
            <a:ext cx="202692" cy="6174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9323832" y="5674401"/>
            <a:ext cx="202692" cy="1065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9526524" y="5657767"/>
            <a:ext cx="202692" cy="16634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729216" y="5657767"/>
            <a:ext cx="202692" cy="5534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931908" y="5663301"/>
            <a:ext cx="202692" cy="8725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10134600" y="5359249"/>
            <a:ext cx="202692" cy="312777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337292" y="5359249"/>
            <a:ext cx="202692" cy="574926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10539984" y="5769072"/>
            <a:ext cx="202692" cy="165103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742676" y="5769072"/>
            <a:ext cx="202692" cy="21651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945368" y="5790723"/>
            <a:ext cx="202692" cy="54337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11148060" y="5835059"/>
            <a:ext cx="202692" cy="10001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350752" y="5835059"/>
            <a:ext cx="202692" cy="65333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11553444" y="5898455"/>
            <a:ext cx="202692" cy="1937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11756136" y="5894824"/>
            <a:ext cx="202692" cy="3630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11958828" y="5885492"/>
            <a:ext cx="202692" cy="9333"/>
          </a:xfrm>
          <a:prstGeom prst="line">
            <a:avLst/>
          </a:prstGeom>
          <a:noFill/>
          <a:ln w="16510">
            <a:solidFill>
              <a:srgbClr val="00806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5800" y="173736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6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privacy papers without monitoring.</a:t>
            </a:r>
            <a:endParaRPr lang="en-US" sz="26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6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monitoring papers without privacy.</a:t>
            </a:r>
            <a:endParaRPr lang="en-US" sz="26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600" b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review confirming nobody's combined them.</a:t>
            </a:r>
            <a:endParaRPr lang="en-US" sz="2600" dirty="0"/>
          </a:p>
        </p:txBody>
      </p:sp>
      <p:sp>
        <p:nvSpPr>
          <p:cNvPr id="63" name="Text 61"/>
          <p:cNvSpPr/>
          <p:nvPr/>
        </p:nvSpPr>
        <p:spPr>
          <a:xfrm>
            <a:off x="685800" y="365760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dataset, tested the same way our failed one was tested — with the labelling and forecasting choices measured, not assumed.</a:t>
            </a:r>
            <a:endParaRPr lang="en-US" sz="1450" dirty="0"/>
          </a:p>
        </p:txBody>
      </p:sp>
      <p:sp>
        <p:nvSpPr>
          <p:cNvPr id="64" name="Text 62"/>
          <p:cNvSpPr/>
          <p:nvPr/>
        </p:nvSpPr>
        <p:spPr>
          <a:xfrm>
            <a:off x="685800" y="4892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A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 Papers and Dataset</dc:title>
  <dc:subject>PptxGenJS Presentation</dc:subject>
  <dc:creator>NLP-06</dc:creator>
  <cp:lastModifiedBy>NLP-06</cp:lastModifiedBy>
  <cp:revision>1</cp:revision>
  <dcterms:created xsi:type="dcterms:W3CDTF">2026-08-20T12:10:08Z</dcterms:created>
  <dcterms:modified xsi:type="dcterms:W3CDTF">2026-08-20T12:10:08Z</dcterms:modified>
</cp:coreProperties>
</file>