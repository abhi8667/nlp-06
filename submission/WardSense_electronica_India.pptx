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WardSense: a two-part edge system. A small model watches vitals and forecasts deterioration 4-6 hours ahead; a local language model explains each alert in plain English. Everything runs on hardware the hospital 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AI systems, not one. Different models, trained differently. The novelty is the junction: the alert's content becomes the retrieval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on this slide was measured on the actual device, not estimated from spec sheets.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summary is generated automatically by retrieving this patient's own record, using the abnormal vitals themselves as the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the pipeline and hardware envelope are validated. The full experimental campaign and the clinician evaluation are the next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532332"/>
            <a:ext cx="202692" cy="3815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2692" y="5532332"/>
            <a:ext cx="202692" cy="14194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05384" y="5066949"/>
            <a:ext cx="202692" cy="47957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5066949"/>
            <a:ext cx="202692" cy="69048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10768" y="5507168"/>
            <a:ext cx="202692" cy="250261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3460" y="5507168"/>
            <a:ext cx="202692" cy="4708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16152" y="5502622"/>
            <a:ext cx="202692" cy="5162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8844" y="5502622"/>
            <a:ext cx="202692" cy="37378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1536" y="5539999"/>
            <a:ext cx="202692" cy="25102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4228" y="5565101"/>
            <a:ext cx="202692" cy="1610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26920" y="5540954"/>
            <a:ext cx="202692" cy="4025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9612" y="5540954"/>
            <a:ext cx="202692" cy="6555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2304" y="5547509"/>
            <a:ext cx="202692" cy="41772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634996" y="5548730"/>
            <a:ext cx="202692" cy="40551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837688" y="5110497"/>
            <a:ext cx="202692" cy="43823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0380" y="5110497"/>
            <a:ext cx="202692" cy="67580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243072" y="5588116"/>
            <a:ext cx="202692" cy="19819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445764" y="5574843"/>
            <a:ext cx="202692" cy="13272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5574843"/>
            <a:ext cx="202692" cy="3446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1148" y="5609312"/>
            <a:ext cx="202692" cy="61058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3840" y="5670370"/>
            <a:ext cx="202692" cy="5007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256532" y="5687587"/>
            <a:ext cx="202692" cy="3285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9224" y="5687587"/>
            <a:ext cx="202692" cy="3435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1916" y="5721943"/>
            <a:ext cx="202692" cy="99444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864608" y="5813747"/>
            <a:ext cx="202692" cy="764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067300" y="5777866"/>
            <a:ext cx="202692" cy="35881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269992" y="5376391"/>
            <a:ext cx="202692" cy="401475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2684" y="5376391"/>
            <a:ext cx="202692" cy="66948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5376" y="5752590"/>
            <a:ext cx="202692" cy="293282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878068" y="5703981"/>
            <a:ext cx="202692" cy="48608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080760" y="5693915"/>
            <a:ext cx="202692" cy="1006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283452" y="5661229"/>
            <a:ext cx="202692" cy="3268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486144" y="5556616"/>
            <a:ext cx="202692" cy="10461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8836" y="5556616"/>
            <a:ext cx="202692" cy="1413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891528" y="5567006"/>
            <a:ext cx="202692" cy="374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094220" y="5529351"/>
            <a:ext cx="202692" cy="37654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96912" y="5529351"/>
            <a:ext cx="202692" cy="14715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9604" y="5544066"/>
            <a:ext cx="202692" cy="1814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702296" y="5061665"/>
            <a:ext cx="202692" cy="50054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4988" y="5061665"/>
            <a:ext cx="202692" cy="75197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107680" y="5569258"/>
            <a:ext cx="202692" cy="244384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10372" y="5569258"/>
            <a:ext cx="202692" cy="2538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513064" y="5523194"/>
            <a:ext cx="202692" cy="7144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15756" y="5523194"/>
            <a:ext cx="202692" cy="50004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918448" y="5509958"/>
            <a:ext cx="202692" cy="6324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1140" y="5509958"/>
            <a:ext cx="202692" cy="2261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3832" y="5532577"/>
            <a:ext cx="202692" cy="950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526524" y="5506727"/>
            <a:ext cx="202692" cy="3535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9216" y="5506727"/>
            <a:ext cx="202692" cy="18771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9931908" y="5507618"/>
            <a:ext cx="202692" cy="1788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34600" y="5080748"/>
            <a:ext cx="202692" cy="426870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7292" y="5080748"/>
            <a:ext cx="202692" cy="78232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539984" y="5643150"/>
            <a:ext cx="202692" cy="21992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42676" y="5643150"/>
            <a:ext cx="202692" cy="24693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45368" y="5667843"/>
            <a:ext cx="202692" cy="73678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48060" y="5741521"/>
            <a:ext cx="202692" cy="4405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0752" y="5785577"/>
            <a:ext cx="202692" cy="3095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53444" y="5788672"/>
            <a:ext cx="202692" cy="289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56136" y="5788961"/>
            <a:ext cx="202692" cy="12396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1958828" y="5772080"/>
            <a:ext cx="202692" cy="29277"/>
          </a:xfrm>
          <a:prstGeom prst="line">
            <a:avLst/>
          </a:prstGeom>
          <a:noFill/>
          <a:ln w="17780">
            <a:solidFill>
              <a:srgbClr val="00806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0" y="1351825"/>
            <a:ext cx="202692" cy="31818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2692" y="1351825"/>
            <a:ext cx="202692" cy="7925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05384" y="1029837"/>
            <a:ext cx="202692" cy="329912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8076" y="1029837"/>
            <a:ext cx="202692" cy="49474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810768" y="1365112"/>
            <a:ext cx="202692" cy="159469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013460" y="1331150"/>
            <a:ext cx="202692" cy="33963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16152" y="1331150"/>
            <a:ext cx="202692" cy="21199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418844" y="1344948"/>
            <a:ext cx="202692" cy="7400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21536" y="1344948"/>
            <a:ext cx="202692" cy="83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24228" y="1345782"/>
            <a:ext cx="202692" cy="42389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26920" y="1388171"/>
            <a:ext cx="202692" cy="820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2229612" y="1378381"/>
            <a:ext cx="202692" cy="1799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2432304" y="1357388"/>
            <a:ext cx="202692" cy="20993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34996" y="1357388"/>
            <a:ext cx="202692" cy="20442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2837688" y="1051159"/>
            <a:ext cx="202692" cy="326670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40380" y="1051159"/>
            <a:ext cx="202692" cy="497203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3243072" y="1362122"/>
            <a:ext cx="202692" cy="186240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45764" y="1362122"/>
            <a:ext cx="202692" cy="12047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48456" y="1374169"/>
            <a:ext cx="202692" cy="36220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51148" y="1410389"/>
            <a:ext cx="202692" cy="2485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53840" y="1412874"/>
            <a:ext cx="202692" cy="4890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256532" y="1461780"/>
            <a:ext cx="202692" cy="21527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59224" y="1483307"/>
            <a:ext cx="202692" cy="5272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61916" y="1536031"/>
            <a:ext cx="202692" cy="20297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64608" y="1556328"/>
            <a:ext cx="202692" cy="1380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5067300" y="1531569"/>
            <a:ext cx="202692" cy="38562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5269992" y="1205023"/>
            <a:ext cx="202692" cy="32654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72684" y="1205023"/>
            <a:ext cx="202692" cy="505335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5675376" y="1509200"/>
            <a:ext cx="202692" cy="201159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5878068" y="1472346"/>
            <a:ext cx="202692" cy="3685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6080760" y="1434757"/>
            <a:ext cx="202692" cy="37589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6283452" y="1423239"/>
            <a:ext cx="202692" cy="11518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6486144" y="1398046"/>
            <a:ext cx="202692" cy="25193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6688836" y="1352040"/>
            <a:ext cx="202692" cy="4600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91528" y="1352040"/>
            <a:ext cx="202692" cy="20599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7094220" y="1330799"/>
            <a:ext cx="202692" cy="4184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296912" y="1330799"/>
            <a:ext cx="202692" cy="4144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7499604" y="1364198"/>
            <a:ext cx="202692" cy="8042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7702296" y="1057334"/>
            <a:ext cx="202692" cy="30686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4988" y="1057334"/>
            <a:ext cx="202692" cy="46194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8107680" y="1345154"/>
            <a:ext cx="202692" cy="17412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310372" y="1345154"/>
            <a:ext cx="202692" cy="44550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8513064" y="1378773"/>
            <a:ext cx="202692" cy="1093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8715756" y="1361305"/>
            <a:ext cx="202692" cy="17468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8918448" y="1339374"/>
            <a:ext cx="202692" cy="2193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121140" y="1339374"/>
            <a:ext cx="202692" cy="28162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9323832" y="1334965"/>
            <a:ext cx="202692" cy="3257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9526524" y="1325777"/>
            <a:ext cx="202692" cy="9188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29216" y="1325777"/>
            <a:ext cx="202692" cy="67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31908" y="1326451"/>
            <a:ext cx="202692" cy="1720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10134600" y="1062020"/>
            <a:ext cx="202692" cy="281635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337292" y="1062020"/>
            <a:ext cx="202692" cy="495020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10539984" y="1393328"/>
            <a:ext cx="202692" cy="163712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742676" y="1393328"/>
            <a:ext cx="202692" cy="7517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10945368" y="1456766"/>
            <a:ext cx="202692" cy="11733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1148060" y="1456766"/>
            <a:ext cx="202692" cy="28231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350752" y="1484997"/>
            <a:ext cx="202692" cy="54266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553444" y="1539263"/>
            <a:ext cx="202692" cy="25413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11756136" y="1527852"/>
            <a:ext cx="202692" cy="36824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958828" y="1527852"/>
            <a:ext cx="202692" cy="26035"/>
          </a:xfrm>
          <a:prstGeom prst="line">
            <a:avLst/>
          </a:prstGeom>
          <a:noFill/>
          <a:ln w="13970">
            <a:solidFill>
              <a:srgbClr val="12303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85800" y="196596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WardSense</a:t>
            </a:r>
            <a:endParaRPr lang="en-US" sz="6000" dirty="0"/>
          </a:p>
        </p:txBody>
      </p:sp>
      <p:sp>
        <p:nvSpPr>
          <p:cNvPr id="123" name="Text 121"/>
          <p:cNvSpPr/>
          <p:nvPr/>
        </p:nvSpPr>
        <p:spPr>
          <a:xfrm>
            <a:off x="685800" y="30632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Edge AI for early deterioration monitoring</a:t>
            </a:r>
            <a:endParaRPr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685800" y="36118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nurses hours before deterioration becomes obvious —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byte of patient data leaving the hospital.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6858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 India   ·   Edge AI &amp; Healthcare   ·   Continuous Healthcare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Deterioration is visible in the data hours before anyone sees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7772400" cy="1170432"/>
          </a:xfrm>
          <a:prstGeom prst="roundRect">
            <a:avLst>
              <a:gd name="adj" fmla="val 625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6712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watching between rounds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 check observations every 4–6 hours. Patients deteriorate continuously. The warning signs sit unread in a chart.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7772400" cy="1170432"/>
          </a:xfrm>
          <a:prstGeom prst="roundRect">
            <a:avLst>
              <a:gd name="adj" fmla="val 625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58444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3467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fix is illegal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3075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vitals to a cloud AI service is exactly what patient-privacy regulation forbids. Data cannot leave the hospital.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7772400" cy="1170432"/>
          </a:xfrm>
          <a:prstGeom prst="roundRect">
            <a:avLst>
              <a:gd name="adj" fmla="val 625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00176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7640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without context get ignored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14807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number tells a nurse something changed. It does not tell them why it matters for this patient.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23960" y="1783080"/>
            <a:ext cx="2651760" cy="3794760"/>
          </a:xfrm>
          <a:prstGeom prst="roundRect">
            <a:avLst>
              <a:gd name="adj" fmla="val 2759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90525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unmonitored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52560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WardSense forecasts the same window — continuously, on-device.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one junction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450592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12 hours of six vitals, forecasts deterioration 4–6 hours ahead.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100K parameters. Trained across hospitals without sharing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12280" y="245059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language model answering questions from that patient's own record.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offline. Strict per-patient isolation, adversarially tested.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10789920" cy="1600200"/>
          </a:xfrm>
          <a:prstGeom prst="roundRect">
            <a:avLst>
              <a:gd name="adj" fmla="val 457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meet at exactly one point — and that is the contribution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detector raises an alert, the abnormal vitals themselves become the search query — pulling the history that explains this specific deterioration, then writing it in plain English. The output of a privacy-protected federated model becomes the semantic input to a grounded language model.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alert becomes a clinical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048256" cy="2788920"/>
          </a:xfrm>
          <a:prstGeom prst="roundRect">
            <a:avLst>
              <a:gd name="adj" fmla="val 3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12140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267004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arrive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324612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BP, oxygen,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respiration, temperature,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— every hour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752344" y="3172968"/>
            <a:ext cx="137160" cy="155448"/>
          </a:xfrm>
          <a:prstGeom prst="triangle">
            <a:avLst/>
          </a:prstGeom>
          <a:solidFill>
            <a:srgbClr val="00806F"/>
          </a:solidFill>
          <a:ln w="12700">
            <a:solidFill>
              <a:srgbClr val="0080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7792" y="1874520"/>
            <a:ext cx="2048256" cy="2788920"/>
          </a:xfrm>
          <a:prstGeom prst="roundRect">
            <a:avLst>
              <a:gd name="adj" fmla="val 3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212140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63824" y="267004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on-device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63824" y="324612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window through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detector. No network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974336" y="3172968"/>
            <a:ext cx="137160" cy="155448"/>
          </a:xfrm>
          <a:prstGeom prst="triangle">
            <a:avLst/>
          </a:prstGeom>
          <a:solidFill>
            <a:srgbClr val="00806F"/>
          </a:solidFill>
          <a:ln w="12700">
            <a:solidFill>
              <a:srgbClr val="0080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9784" y="1874520"/>
            <a:ext cx="2048256" cy="2788920"/>
          </a:xfrm>
          <a:prstGeom prst="roundRect">
            <a:avLst>
              <a:gd name="adj" fmla="val 3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85816" y="212140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85816" y="267004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crosses threshold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85816" y="324612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 ≥ 5 — the NHS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point. Alert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96328" y="3172968"/>
            <a:ext cx="137160" cy="155448"/>
          </a:xfrm>
          <a:prstGeom prst="triangle">
            <a:avLst/>
          </a:prstGeom>
          <a:solidFill>
            <a:srgbClr val="00806F"/>
          </a:solidFill>
          <a:ln w="12700">
            <a:solidFill>
              <a:srgbClr val="0080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51776" y="1874520"/>
            <a:ext cx="2048256" cy="2788920"/>
          </a:xfrm>
          <a:prstGeom prst="roundRect">
            <a:avLst>
              <a:gd name="adj" fmla="val 3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7808" y="2121408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267004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retrieved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07808" y="324612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abnormal vitals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search query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patient's history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18320" y="3172968"/>
            <a:ext cx="137160" cy="155448"/>
          </a:xfrm>
          <a:prstGeom prst="triangle">
            <a:avLst/>
          </a:prstGeom>
          <a:solidFill>
            <a:srgbClr val="00806F"/>
          </a:solidFill>
          <a:ln w="12700">
            <a:solidFill>
              <a:srgbClr val="0080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73768" y="1874520"/>
            <a:ext cx="2048256" cy="2788920"/>
          </a:xfrm>
          <a:prstGeom prst="roundRect">
            <a:avLst>
              <a:gd name="adj" fmla="val 357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212140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29800" y="267004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reads why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29800" y="324612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summary: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abnormal, and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explains 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4956048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5230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happens on hardware the hospital owns. If the internet fails, monitoring continues.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— MEASURED, NOT ESTIMATED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stack fits in 6 GB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to a hard constraint: a consumer laptop GPU. The resulting envelope is the evidence — a stack that fits commodity hardware runs on a ward mini-PC; one that needs a datacenter GPU is not deployable at 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633472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843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78408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VRAM budget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633472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2843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 GB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39896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footprint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GPU free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8776" y="2633472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843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tok/s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01384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 model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GPU-resident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70264" y="2633472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2843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62872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point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590288"/>
            <a:ext cx="10789920" cy="1508760"/>
          </a:xfrm>
          <a:prstGeom prst="roundRect">
            <a:avLst>
              <a:gd name="adj" fmla="val 4848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773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under a real budget taught 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138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costs roughly 5.7× more compute on recurrent models than convolutional ones — a trade-off that only surfaces when you measure on the target hardware, and one that directly decides which architecture is viable at the edge.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travels. The data never does.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858000" cy="1097280"/>
          </a:xfrm>
          <a:prstGeom prst="roundRect">
            <a:avLst>
              <a:gd name="adj" fmla="val 6667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30552"/>
            <a:ext cx="402336" cy="40233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93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trains on its own patients and sends back only what the model learned — never a patient record.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081528"/>
            <a:ext cx="6858000" cy="1097280"/>
          </a:xfrm>
          <a:prstGeom prst="roundRect">
            <a:avLst>
              <a:gd name="adj" fmla="val 6667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429000"/>
            <a:ext cx="402336" cy="40233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2278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358444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noise is added on-device before any update leaves, so individuals cannot be reconstructed from the gradients.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79976"/>
            <a:ext cx="6858000" cy="1097280"/>
          </a:xfrm>
          <a:prstGeom prst="roundRect">
            <a:avLst>
              <a:gd name="adj" fmla="val 6667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72744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45262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budget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45920" y="488289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loss is accounted across every training round, not per round — a mistake that silently under-reports by 2.4×.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1783080"/>
            <a:ext cx="3566160" cy="3886200"/>
          </a:xfrm>
          <a:prstGeom prst="roundRect">
            <a:avLst>
              <a:gd name="adj" fmla="val 205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privacy budget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≈ 2.0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18388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δ = 10</a:t>
            </a:r>
            <a:pPr indent="0" marL="0">
              <a:lnSpc>
                <a:spcPts val="1500"/>
              </a:lnSpc>
              <a:buNone/>
            </a:pPr>
            <a:r>
              <a:rPr lang="en-US" sz="1150" baseline="300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tracked across the full training run using Rényi accounting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83880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alone still leaks — gradients can be partly inverted. Differential privacy is the mathematical guarantee that closes 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alert a nurse can act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systems show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395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054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7 — RISK 0.87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changed. The nurse must work out what it means, for which patient, and why — during a shift where twelve other things are also urgent.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fatigue. Ignored.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WardSense shows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7 — deteriorating, NEWS2 9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83464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 29 (normal 12–20), oxygen 90% (normal ≥ 96), blood pressure fallen to 93.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COPD, managed with an inhaler; ex-smoker. Post-operative day 2, reported breathlessness on exertion yesterday.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threshold crossed four hours ago and sustained.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 Actionable.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SIMULATION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patients. Real hospitals. Already tested.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9659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40,336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78408" y="26334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ICU patients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47288" y="178308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9896" y="19659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39896" y="26334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hospital systems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178308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9659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01384" y="26334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training windows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70264" y="178308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9659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 h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62872" y="26334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horizon, ahead of onset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639312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 clinician recognises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224528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every hour with NEWS2 — the early-warning chart used across NHS hospitals — rather than inventing thresholds. Our labels were cross-checked against clinically adjudicated outcomes in the same records.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639312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differ in what they measure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22452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 records blood glucose almost twice as often as the other — exactly the federation problem real deployments hit, and one synthetic data cannot reproduce.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513892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stays are replayed hour by hour as a live feed. Connecting to hospital monitors is an integration step, not a research question.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RUNS LOCALLY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8408" y="23774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sequence models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DPLSTM / DPGRU, CNN baseline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8408" y="3081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100K parameters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3774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Flower, containers over gRPC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3081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multi-site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23774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Opacus DP-SGD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Rényi accounting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48472" y="3081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≈ 2.0 measured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8408" y="4434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3B, 4-bit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Ollama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" y="5138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tok/s, offline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38404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4434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local embeddings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isolation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calls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38404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4434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Streamlit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AES-256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48472" y="5138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93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measured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51176"/>
            <a:ext cx="155448" cy="1554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2468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secured, tested and processed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88136" y="3154680"/>
            <a:ext cx="155448" cy="1554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30723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pipeline verified end to end at ε ≈ 2.0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88136" y="3758184"/>
            <a:ext cx="155448" cy="1554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3675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 converging across sites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4361688"/>
            <a:ext cx="155448" cy="1554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4279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 model benchmarked on-device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88136" y="4965192"/>
            <a:ext cx="155448" cy="1554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35608" y="4882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budget measured on target hardware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65976" y="2551176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3448" y="2468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privacy-versus-accuracy experiment sweep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65976" y="3154680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30723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Alert-to-summary bridge and clinician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65976" y="3758184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3675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evaluation of generated summaries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65976" y="4361688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4279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for bedside accessibility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65976" y="4965192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4882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across dedicated edge hardware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749011"/>
            <a:ext cx="202692" cy="1458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202692" y="5717965"/>
            <a:ext cx="202692" cy="31046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05384" y="5187356"/>
            <a:ext cx="202692" cy="530608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5187356"/>
            <a:ext cx="202692" cy="779925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10768" y="5745917"/>
            <a:ext cx="202692" cy="221363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3460" y="5744343"/>
            <a:ext cx="202692" cy="157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5744343"/>
            <a:ext cx="202692" cy="34013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8844" y="5778356"/>
            <a:ext cx="202692" cy="14572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1536" y="5792929"/>
            <a:ext cx="202692" cy="1448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24228" y="5805292"/>
            <a:ext cx="202692" cy="2117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26920" y="5744525"/>
            <a:ext cx="202692" cy="60767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9612" y="5744525"/>
            <a:ext cx="202692" cy="34312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2304" y="5778837"/>
            <a:ext cx="202692" cy="5995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634996" y="5733800"/>
            <a:ext cx="202692" cy="51032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837688" y="5228553"/>
            <a:ext cx="202692" cy="505247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0380" y="5228553"/>
            <a:ext cx="202692" cy="77384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243072" y="5788020"/>
            <a:ext cx="202692" cy="214377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5764" y="5788020"/>
            <a:ext cx="202692" cy="244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5790464"/>
            <a:ext cx="202692" cy="4825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1148" y="5838718"/>
            <a:ext cx="202692" cy="8085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3840" y="5919572"/>
            <a:ext cx="202692" cy="21835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6532" y="5941408"/>
            <a:ext cx="202692" cy="44602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9224" y="5986009"/>
            <a:ext cx="202692" cy="6154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1916" y="6047550"/>
            <a:ext cx="202692" cy="25848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864608" y="6035098"/>
            <a:ext cx="202692" cy="3830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067300" y="6029436"/>
            <a:ext cx="202692" cy="566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269992" y="5544506"/>
            <a:ext cx="202692" cy="48493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2684" y="5544506"/>
            <a:ext cx="202692" cy="77694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5376" y="6042704"/>
            <a:ext cx="202692" cy="27874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878068" y="5986161"/>
            <a:ext cx="202692" cy="56543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080760" y="5904958"/>
            <a:ext cx="202692" cy="81203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283452" y="5832402"/>
            <a:ext cx="202692" cy="72556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86144" y="5832402"/>
            <a:ext cx="202692" cy="1261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688836" y="5770314"/>
            <a:ext cx="202692" cy="7470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891528" y="5739653"/>
            <a:ext cx="202692" cy="3066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4220" y="5739653"/>
            <a:ext cx="202692" cy="3597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296912" y="5771977"/>
            <a:ext cx="202692" cy="365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9604" y="5771977"/>
            <a:ext cx="202692" cy="3476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702296" y="5251953"/>
            <a:ext cx="202692" cy="523500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4988" y="5251953"/>
            <a:ext cx="202692" cy="78721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107680" y="5763924"/>
            <a:ext cx="202692" cy="275248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10372" y="5763924"/>
            <a:ext cx="202692" cy="473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13064" y="5768655"/>
            <a:ext cx="202692" cy="4238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715756" y="5779155"/>
            <a:ext cx="202692" cy="3188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918448" y="5726634"/>
            <a:ext cx="202692" cy="5252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1140" y="5726634"/>
            <a:ext cx="202692" cy="3521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323832" y="5695474"/>
            <a:ext cx="202692" cy="6637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26524" y="5695474"/>
            <a:ext cx="202692" cy="18386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9216" y="5713860"/>
            <a:ext cx="202692" cy="1086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31908" y="5724729"/>
            <a:ext cx="202692" cy="408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34600" y="5266239"/>
            <a:ext cx="202692" cy="462572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7292" y="5266239"/>
            <a:ext cx="202692" cy="83066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539984" y="5888792"/>
            <a:ext cx="202692" cy="20811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0742676" y="5872647"/>
            <a:ext cx="202692" cy="16145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45368" y="5872647"/>
            <a:ext cx="202692" cy="31033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48060" y="5903680"/>
            <a:ext cx="202692" cy="92327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0752" y="5996008"/>
            <a:ext cx="202692" cy="331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53444" y="5996339"/>
            <a:ext cx="202692" cy="20714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56136" y="6017053"/>
            <a:ext cx="202692" cy="67559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958828" y="6084612"/>
            <a:ext cx="202692" cy="4956"/>
          </a:xfrm>
          <a:prstGeom prst="line">
            <a:avLst/>
          </a:prstGeom>
          <a:noFill/>
          <a:ln w="19050">
            <a:solidFill>
              <a:srgbClr val="00806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16916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the constraint.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is the answer.</a:t>
            </a:r>
            <a:endParaRPr lang="en-US" sz="4000" dirty="0"/>
          </a:p>
        </p:txBody>
      </p:sp>
      <p:sp>
        <p:nvSpPr>
          <p:cNvPr id="63" name="Text 61"/>
          <p:cNvSpPr/>
          <p:nvPr/>
        </p:nvSpPr>
        <p:spPr>
          <a:xfrm>
            <a:off x="685800" y="34290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deterioration monitor that learns from every hospital, and reveals nothing about any patient — running inside 6 GB on hardware a ward can afford.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85800" y="4526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GB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68580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383280" y="4526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≈ 2.0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338328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080760" y="4526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40,336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608076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778240" y="4526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 h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877824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WardSense</dc:title>
  <dc:subject>PptxGenJS Presentation</dc:subject>
  <dc:creator>NLP-06</dc:creator>
  <cp:lastModifiedBy>NLP-06</cp:lastModifiedBy>
  <cp:revision>1</cp:revision>
  <dcterms:created xsi:type="dcterms:W3CDTF">2026-08-20T10:03:24Z</dcterms:created>
  <dcterms:modified xsi:type="dcterms:W3CDTF">2026-08-20T10:03:24Z</dcterms:modified>
</cp:coreProperties>
</file>